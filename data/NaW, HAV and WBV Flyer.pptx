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62"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00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5" d="100"/>
          <a:sy n="75" d="100"/>
        </p:scale>
        <p:origin x="2094" y="84"/>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COPE" userId="7ce1d032-3c06-476f-a0b6-404a5a03f264" providerId="ADAL" clId="{25D3D618-42D3-48CE-863E-A77A3B41390C}"/>
    <pc:docChg chg="delSld">
      <pc:chgData name="Richard COPE" userId="7ce1d032-3c06-476f-a0b6-404a5a03f264" providerId="ADAL" clId="{25D3D618-42D3-48CE-863E-A77A3B41390C}" dt="2023-10-13T12:22:35.096" v="3" actId="47"/>
      <pc:docMkLst>
        <pc:docMk/>
      </pc:docMkLst>
      <pc:sldChg chg="del">
        <pc:chgData name="Richard COPE" userId="7ce1d032-3c06-476f-a0b6-404a5a03f264" providerId="ADAL" clId="{25D3D618-42D3-48CE-863E-A77A3B41390C}" dt="2023-10-13T12:22:35.096" v="3" actId="47"/>
        <pc:sldMkLst>
          <pc:docMk/>
          <pc:sldMk cId="1347106061" sldId="257"/>
        </pc:sldMkLst>
      </pc:sldChg>
      <pc:sldChg chg="del">
        <pc:chgData name="Richard COPE" userId="7ce1d032-3c06-476f-a0b6-404a5a03f264" providerId="ADAL" clId="{25D3D618-42D3-48CE-863E-A77A3B41390C}" dt="2023-10-13T12:22:33.422" v="0" actId="47"/>
        <pc:sldMkLst>
          <pc:docMk/>
          <pc:sldMk cId="233943173" sldId="259"/>
        </pc:sldMkLst>
      </pc:sldChg>
      <pc:sldChg chg="del">
        <pc:chgData name="Richard COPE" userId="7ce1d032-3c06-476f-a0b6-404a5a03f264" providerId="ADAL" clId="{25D3D618-42D3-48CE-863E-A77A3B41390C}" dt="2023-10-13T12:22:33.954" v="1" actId="47"/>
        <pc:sldMkLst>
          <pc:docMk/>
          <pc:sldMk cId="3055528256" sldId="260"/>
        </pc:sldMkLst>
      </pc:sldChg>
      <pc:sldChg chg="del">
        <pc:chgData name="Richard COPE" userId="7ce1d032-3c06-476f-a0b6-404a5a03f264" providerId="ADAL" clId="{25D3D618-42D3-48CE-863E-A77A3B41390C}" dt="2023-10-13T12:22:34.524" v="2" actId="47"/>
        <pc:sldMkLst>
          <pc:docMk/>
          <pc:sldMk cId="2286754357" sldId="2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1EBE96-4D71-4CA7-B6ED-28F39359AFCE}" type="datetimeFigureOut">
              <a:rPr lang="en-GB" smtClean="0"/>
              <a:t>13/10/2023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859546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1EBE96-4D71-4CA7-B6ED-28F39359AFCE}" type="datetimeFigureOut">
              <a:rPr lang="en-GB" smtClean="0"/>
              <a:t>13/10/2023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2810744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1EBE96-4D71-4CA7-B6ED-28F39359AFCE}" type="datetimeFigureOut">
              <a:rPr lang="en-GB" smtClean="0"/>
              <a:t>13/10/2023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3895815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1EBE96-4D71-4CA7-B6ED-28F39359AFCE}" type="datetimeFigureOut">
              <a:rPr lang="en-GB" smtClean="0"/>
              <a:t>13/10/2023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782483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1EBE96-4D71-4CA7-B6ED-28F39359AFCE}" type="datetimeFigureOut">
              <a:rPr lang="en-GB" smtClean="0"/>
              <a:t>13/10/2023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3532920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EBE96-4D71-4CA7-B6ED-28F39359AFCE}" type="datetimeFigureOut">
              <a:rPr lang="en-GB" smtClean="0"/>
              <a:t>13/10/2023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36717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1EBE96-4D71-4CA7-B6ED-28F39359AFCE}" type="datetimeFigureOut">
              <a:rPr lang="en-GB" smtClean="0"/>
              <a:t>13/10/2023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981339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E1EBE96-4D71-4CA7-B6ED-28F39359AFCE}" type="datetimeFigureOut">
              <a:rPr lang="en-GB" smtClean="0"/>
              <a:t>13/10/2023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2749447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E1EBE96-4D71-4CA7-B6ED-28F39359AFCE}" type="datetimeFigureOut">
              <a:rPr lang="en-GB" smtClean="0"/>
              <a:t>13/10/2023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398637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1EBE96-4D71-4CA7-B6ED-28F39359AFCE}" type="datetimeFigureOut">
              <a:rPr lang="en-GB" smtClean="0"/>
              <a:t>13/10/2023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3252745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1EBE96-4D71-4CA7-B6ED-28F39359AFCE}" type="datetimeFigureOut">
              <a:rPr lang="en-GB" smtClean="0"/>
              <a:t>13/10/2023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F9D54DD-23B3-4C91-86A5-528873FE250B}" type="slidenum">
              <a:rPr lang="en-GB" smtClean="0"/>
              <a:t>‹#›</a:t>
            </a:fld>
            <a:endParaRPr lang="en-GB"/>
          </a:p>
        </p:txBody>
      </p:sp>
    </p:spTree>
    <p:extLst>
      <p:ext uri="{BB962C8B-B14F-4D97-AF65-F5344CB8AC3E}">
        <p14:creationId xmlns:p14="http://schemas.microsoft.com/office/powerpoint/2010/main" val="1614523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BE1EBE96-4D71-4CA7-B6ED-28F39359AFCE}" type="datetimeFigureOut">
              <a:rPr lang="en-GB" smtClean="0"/>
              <a:t>13/10/2023</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6F9D54DD-23B3-4C91-86A5-528873FE250B}" type="slidenum">
              <a:rPr lang="en-GB" smtClean="0"/>
              <a:t>‹#›</a:t>
            </a:fld>
            <a:endParaRPr lang="en-GB"/>
          </a:p>
        </p:txBody>
      </p:sp>
      <p:sp>
        <p:nvSpPr>
          <p:cNvPr id="8" name="TextBox 7">
            <a:extLst>
              <a:ext uri="{FF2B5EF4-FFF2-40B4-BE49-F238E27FC236}">
                <a16:creationId xmlns:a16="http://schemas.microsoft.com/office/drawing/2014/main" id="{92262662-0229-2D6B-DF23-B41FADFA62FC}"/>
              </a:ext>
            </a:extLst>
          </p:cNvPr>
          <p:cNvSpPr txBox="1"/>
          <p:nvPr userDrawn="1">
            <p:extLst>
              <p:ext uri="{1162E1C5-73C7-4A58-AE30-91384D911F3F}">
                <p184:classification xmlns:p184="http://schemas.microsoft.com/office/powerpoint/2018/4/main" val="ftr"/>
              </p:ext>
            </p:extLst>
          </p:nvPr>
        </p:nvSpPr>
        <p:spPr>
          <a:xfrm>
            <a:off x="2497900" y="9690100"/>
            <a:ext cx="1890712"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cs typeface="Calibri" panose="020F0502020204030204" pitchFamily="34" charset="0"/>
              </a:rPr>
              <a:t>Bureau Veritas Group | C2 - Internal</a:t>
            </a:r>
          </a:p>
        </p:txBody>
      </p:sp>
    </p:spTree>
    <p:extLst>
      <p:ext uri="{BB962C8B-B14F-4D97-AF65-F5344CB8AC3E}">
        <p14:creationId xmlns:p14="http://schemas.microsoft.com/office/powerpoint/2010/main" val="34099909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303964-AC7F-2A0B-FA34-5BB8DE781AF3}"/>
              </a:ext>
            </a:extLst>
          </p:cNvPr>
          <p:cNvSpPr/>
          <p:nvPr/>
        </p:nvSpPr>
        <p:spPr>
          <a:xfrm>
            <a:off x="0" y="4447"/>
            <a:ext cx="6858000" cy="1348627"/>
          </a:xfrm>
          <a:prstGeom prst="rect">
            <a:avLst/>
          </a:prstGeom>
          <a:solidFill>
            <a:srgbClr val="B0002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6C8BFD0-E85A-EA4D-C8AD-EED1B37BDC69}"/>
              </a:ext>
            </a:extLst>
          </p:cNvPr>
          <p:cNvSpPr txBox="1"/>
          <p:nvPr/>
        </p:nvSpPr>
        <p:spPr>
          <a:xfrm>
            <a:off x="44196" y="1420804"/>
            <a:ext cx="4041650" cy="830997"/>
          </a:xfrm>
          <a:prstGeom prst="rect">
            <a:avLst/>
          </a:prstGeom>
          <a:noFill/>
          <a:ln>
            <a:noFill/>
          </a:ln>
        </p:spPr>
        <p:txBody>
          <a:bodyPr wrap="square" rtlCol="0">
            <a:spAutoFit/>
          </a:bodyPr>
          <a:lstStyle/>
          <a:p>
            <a:r>
              <a:rPr lang="en-GB" sz="2400" dirty="0">
                <a:ln w="0">
                  <a:solidFill>
                    <a:srgbClr val="B0002D"/>
                  </a:solidFill>
                </a:ln>
                <a:solidFill>
                  <a:srgbClr val="B0002D"/>
                </a:solidFill>
                <a:latin typeface="Arial" panose="020B0604020202020204" pitchFamily="34" charset="0"/>
                <a:cs typeface="Arial" panose="020B0604020202020204" pitchFamily="34" charset="0"/>
              </a:rPr>
              <a:t>WORKPLACE NOISE &amp; VIBRATION EXPOSURE</a:t>
            </a:r>
            <a:endParaRPr lang="en-GB" dirty="0">
              <a:ln w="0">
                <a:solidFill>
                  <a:srgbClr val="B0002D"/>
                </a:solidFill>
              </a:ln>
              <a:solidFill>
                <a:srgbClr val="B0002D"/>
              </a:solidFill>
              <a:latin typeface="Arial" panose="020B0604020202020204" pitchFamily="34" charset="0"/>
              <a:cs typeface="Arial" panose="020B0604020202020204" pitchFamily="34" charset="0"/>
            </a:endParaRPr>
          </a:p>
        </p:txBody>
      </p:sp>
      <p:pic>
        <p:nvPicPr>
          <p:cNvPr id="14" name="Picture 13" descr="A logo of a company&#10;&#10;Description automatically generated">
            <a:extLst>
              <a:ext uri="{FF2B5EF4-FFF2-40B4-BE49-F238E27FC236}">
                <a16:creationId xmlns:a16="http://schemas.microsoft.com/office/drawing/2014/main" id="{C73342D2-BCEC-85DD-74BF-D10E8814E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4352" y="8709390"/>
            <a:ext cx="932688" cy="1156822"/>
          </a:xfrm>
          <a:prstGeom prst="rect">
            <a:avLst/>
          </a:prstGeom>
        </p:spPr>
      </p:pic>
      <p:sp>
        <p:nvSpPr>
          <p:cNvPr id="16" name="TextBox 15">
            <a:extLst>
              <a:ext uri="{FF2B5EF4-FFF2-40B4-BE49-F238E27FC236}">
                <a16:creationId xmlns:a16="http://schemas.microsoft.com/office/drawing/2014/main" id="{C2DC083E-5218-C72E-31A7-174DF1934F61}"/>
              </a:ext>
            </a:extLst>
          </p:cNvPr>
          <p:cNvSpPr txBox="1"/>
          <p:nvPr/>
        </p:nvSpPr>
        <p:spPr>
          <a:xfrm>
            <a:off x="44196" y="2426555"/>
            <a:ext cx="2798064" cy="461665"/>
          </a:xfrm>
          <a:prstGeom prst="rect">
            <a:avLst/>
          </a:prstGeom>
          <a:noFill/>
          <a:ln>
            <a:noFill/>
          </a:ln>
        </p:spPr>
        <p:txBody>
          <a:bodyPr wrap="square" rtlCol="0">
            <a:spAutoFit/>
          </a:bodyPr>
          <a:lstStyle/>
          <a:p>
            <a:r>
              <a:rPr lang="en-GB" sz="2400" dirty="0">
                <a:ln w="0">
                  <a:solidFill>
                    <a:srgbClr val="B0002D"/>
                  </a:solidFill>
                </a:ln>
                <a:solidFill>
                  <a:srgbClr val="B0002D"/>
                </a:solidFill>
                <a:latin typeface="Arial" panose="020B0604020202020204" pitchFamily="34" charset="0"/>
                <a:cs typeface="Arial" panose="020B0604020202020204" pitchFamily="34" charset="0"/>
              </a:rPr>
              <a:t>REQUIREMENTS</a:t>
            </a:r>
            <a:endParaRPr lang="en-GB" dirty="0">
              <a:ln w="0">
                <a:solidFill>
                  <a:srgbClr val="B0002D"/>
                </a:solidFill>
              </a:ln>
              <a:solidFill>
                <a:srgbClr val="B0002D"/>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25B0326B-58A5-EFC5-296C-619E1034B680}"/>
              </a:ext>
            </a:extLst>
          </p:cNvPr>
          <p:cNvSpPr txBox="1"/>
          <p:nvPr/>
        </p:nvSpPr>
        <p:spPr>
          <a:xfrm>
            <a:off x="2981632" y="5515655"/>
            <a:ext cx="3602228" cy="3777957"/>
          </a:xfrm>
          <a:prstGeom prst="rect">
            <a:avLst/>
          </a:prstGeom>
          <a:noFill/>
        </p:spPr>
        <p:txBody>
          <a:bodyPr wrap="square" rtlCol="0">
            <a:spAutoFit/>
          </a:bodyPr>
          <a:lstStyle/>
          <a:p>
            <a:pPr>
              <a:spcAft>
                <a:spcPts val="600"/>
              </a:spcAft>
            </a:pPr>
            <a:r>
              <a:rPr lang="en-GB" sz="1050" dirty="0">
                <a:latin typeface="Arial" panose="020B0604020202020204" pitchFamily="34" charset="0"/>
                <a:cs typeface="Arial" panose="020B0604020202020204" pitchFamily="34" charset="0"/>
              </a:rPr>
              <a:t>The Acoustics, Vibration &amp; Occupational Health Team can provide a large suite of services in this area, minimising operational disruption:</a:t>
            </a:r>
          </a:p>
          <a:p>
            <a:pPr marL="171450" indent="-171450">
              <a:spcAft>
                <a:spcPts val="600"/>
              </a:spcAft>
              <a:buFont typeface="Arial" panose="020B0604020202020204" pitchFamily="34" charset="0"/>
              <a:buChar char="•"/>
            </a:pPr>
            <a:r>
              <a:rPr lang="en-GB" sz="1050" dirty="0">
                <a:latin typeface="Arial" panose="020B0604020202020204" pitchFamily="34" charset="0"/>
                <a:cs typeface="Arial" panose="020B0604020202020204" pitchFamily="34" charset="0"/>
              </a:rPr>
              <a:t>Measurement of noise, hand-arm vibration (HAV) and whole-body vibration (WBV) emissions from tools and equipment. </a:t>
            </a:r>
          </a:p>
          <a:p>
            <a:pPr marL="171450" indent="-171450">
              <a:spcAft>
                <a:spcPts val="600"/>
              </a:spcAft>
              <a:buFont typeface="Arial" panose="020B0604020202020204" pitchFamily="34" charset="0"/>
              <a:buChar char="•"/>
            </a:pPr>
            <a:r>
              <a:rPr lang="en-GB" sz="1050" dirty="0">
                <a:latin typeface="Arial" panose="020B0604020202020204" pitchFamily="34" charset="0"/>
                <a:cs typeface="Arial" panose="020B0604020202020204" pitchFamily="34" charset="0"/>
              </a:rPr>
              <a:t>Spot measurements of noise throughout your facility, and creation of noise contour maps to indicate Noise Hazard and mandatory Hearing Protection Zones. </a:t>
            </a:r>
          </a:p>
          <a:p>
            <a:pPr marL="171450" indent="-171450">
              <a:spcAft>
                <a:spcPts val="600"/>
              </a:spcAft>
              <a:buFont typeface="Arial" panose="020B0604020202020204" pitchFamily="34" charset="0"/>
              <a:buChar char="•"/>
            </a:pPr>
            <a:r>
              <a:rPr lang="en-GB" sz="1050" dirty="0">
                <a:latin typeface="Arial" panose="020B0604020202020204" pitchFamily="34" charset="0"/>
                <a:cs typeface="Arial" panose="020B0604020202020204" pitchFamily="34" charset="0"/>
              </a:rPr>
              <a:t>Noise dosimetry for workers with complex exposure patterns.</a:t>
            </a:r>
          </a:p>
          <a:p>
            <a:pPr marL="171450" indent="-171450">
              <a:spcAft>
                <a:spcPts val="600"/>
              </a:spcAft>
              <a:buFont typeface="Arial" panose="020B0604020202020204" pitchFamily="34" charset="0"/>
              <a:buChar char="•"/>
            </a:pPr>
            <a:r>
              <a:rPr lang="en-GB" sz="1050" dirty="0">
                <a:latin typeface="Arial" panose="020B0604020202020204" pitchFamily="34" charset="0"/>
                <a:cs typeface="Arial" panose="020B0604020202020204" pitchFamily="34" charset="0"/>
              </a:rPr>
              <a:t>Inspection, assessment and specification of hearing protection devices.</a:t>
            </a:r>
          </a:p>
          <a:p>
            <a:pPr marL="171450" indent="-171450">
              <a:spcAft>
                <a:spcPts val="600"/>
              </a:spcAft>
              <a:buFont typeface="Arial" panose="020B0604020202020204" pitchFamily="34" charset="0"/>
              <a:buChar char="•"/>
            </a:pPr>
            <a:r>
              <a:rPr lang="en-GB" sz="1050" dirty="0">
                <a:latin typeface="Arial" panose="020B0604020202020204" pitchFamily="34" charset="0"/>
                <a:cs typeface="Arial" panose="020B0604020202020204" pitchFamily="34" charset="0"/>
              </a:rPr>
              <a:t>Noise control engineering advice.</a:t>
            </a:r>
          </a:p>
          <a:p>
            <a:pPr marL="171450" indent="-171450">
              <a:spcAft>
                <a:spcPts val="600"/>
              </a:spcAft>
              <a:buFont typeface="Arial" panose="020B0604020202020204" pitchFamily="34" charset="0"/>
              <a:buChar char="•"/>
            </a:pPr>
            <a:r>
              <a:rPr lang="en-GB" sz="1050" dirty="0">
                <a:latin typeface="Arial" panose="020B0604020202020204" pitchFamily="34" charset="0"/>
                <a:cs typeface="Arial" panose="020B0604020202020204" pitchFamily="34" charset="0"/>
              </a:rPr>
              <a:t>Concise reporting that identifies clear actions required to comply with the relevant Regulations, in support of your noise and/or vibration action plans. </a:t>
            </a:r>
          </a:p>
          <a:p>
            <a:pPr marL="171450" indent="-171450">
              <a:spcAft>
                <a:spcPts val="600"/>
              </a:spcAft>
              <a:buFont typeface="Arial" panose="020B0604020202020204" pitchFamily="34" charset="0"/>
              <a:buChar char="•"/>
            </a:pPr>
            <a:r>
              <a:rPr lang="en-GB" sz="1050" dirty="0">
                <a:latin typeface="Arial" panose="020B0604020202020204" pitchFamily="34" charset="0"/>
                <a:cs typeface="Arial" panose="020B0604020202020204" pitchFamily="34" charset="0"/>
              </a:rPr>
              <a:t>Competency and awareness training courses</a:t>
            </a:r>
          </a:p>
          <a:p>
            <a:pPr marL="171450" indent="-171450">
              <a:buFont typeface="Arial" panose="020B0604020202020204" pitchFamily="34" charset="0"/>
              <a:buChar char="•"/>
            </a:pPr>
            <a:endParaRPr lang="en-GB" sz="105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FC185FEF-F737-B096-5C01-CD4400F303BC}"/>
              </a:ext>
            </a:extLst>
          </p:cNvPr>
          <p:cNvSpPr txBox="1"/>
          <p:nvPr/>
        </p:nvSpPr>
        <p:spPr>
          <a:xfrm>
            <a:off x="-4316730" y="2781567"/>
            <a:ext cx="2772156" cy="1708160"/>
          </a:xfrm>
          <a:prstGeom prst="rect">
            <a:avLst/>
          </a:prstGeom>
          <a:noFill/>
        </p:spPr>
        <p:txBody>
          <a:bodyPr wrap="square" rtlCol="0">
            <a:spAutoFit/>
          </a:bodyPr>
          <a:lstStyle/>
          <a:p>
            <a:pPr algn="just"/>
            <a:r>
              <a:rPr lang="en-GB" sz="1050" dirty="0">
                <a:latin typeface="Arial" panose="020B0604020202020204" pitchFamily="34" charset="0"/>
                <a:cs typeface="Arial" panose="020B0604020202020204" pitchFamily="34" charset="0"/>
              </a:rPr>
              <a:t>The Acoustics, Vibration and Occupation Hygiene (AVOH) team at Bureau Veritas UK Ltd comprises of 15 qualified acousticians and engineers, consultants and technicians and represents one of the largest independent consultancies of its type in the UK.  The AVOH team is evenly distributed across England and Scotland, from Southampton to Aberdeen.</a:t>
            </a:r>
          </a:p>
          <a:p>
            <a:pPr algn="just"/>
            <a:endParaRPr lang="en-GB" sz="105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DF45AFD8-C49A-FD13-F6B0-F175CF21E7B6}"/>
              </a:ext>
            </a:extLst>
          </p:cNvPr>
          <p:cNvSpPr>
            <a:spLocks noChangeArrowheads="1"/>
          </p:cNvSpPr>
          <p:nvPr/>
        </p:nvSpPr>
        <p:spPr bwMode="auto">
          <a:xfrm>
            <a:off x="0" y="0"/>
            <a:ext cx="6858000" cy="990327"/>
          </a:xfrm>
          <a:prstGeom prst="rect">
            <a:avLst/>
          </a:prstGeom>
          <a:noFill/>
          <a:ln>
            <a:noFill/>
          </a:ln>
        </p:spPr>
        <p:txBody>
          <a:bodyPr rot="0" vert="horz" wrap="square" lIns="91440" tIns="45720" rIns="91440" bIns="45720" anchor="t" anchorCtr="0" upright="1">
            <a:noAutofit/>
          </a:bodyPr>
          <a:lstStyle/>
          <a:p>
            <a:r>
              <a:rPr lang="en-GB" sz="2300" dirty="0">
                <a:solidFill>
                  <a:schemeClr val="bg1"/>
                </a:solidFill>
                <a:latin typeface="Arial" panose="020B0604020202020204" pitchFamily="34" charset="0"/>
                <a:cs typeface="Arial" panose="020B0604020202020204" pitchFamily="34" charset="0"/>
              </a:rPr>
              <a:t>BUREAU VERITAS UK LTD</a:t>
            </a:r>
          </a:p>
          <a:p>
            <a:r>
              <a:rPr lang="en-GB" sz="2000" dirty="0">
                <a:solidFill>
                  <a:schemeClr val="bg1"/>
                </a:solidFill>
                <a:latin typeface="Arial" panose="020B0604020202020204" pitchFamily="34" charset="0"/>
                <a:cs typeface="Arial" panose="020B0604020202020204" pitchFamily="34" charset="0"/>
              </a:rPr>
              <a:t>Acoustic, Vibration &amp; Occupational Hygiene</a:t>
            </a:r>
          </a:p>
          <a:p>
            <a:r>
              <a:rPr lang="en-GB" sz="2000" dirty="0">
                <a:solidFill>
                  <a:schemeClr val="bg1"/>
                </a:solidFill>
                <a:latin typeface="Arial" panose="020B0604020202020204" pitchFamily="34" charset="0"/>
                <a:cs typeface="Arial" panose="020B0604020202020204" pitchFamily="34" charset="0"/>
              </a:rPr>
              <a:t>Consultancy Services</a:t>
            </a:r>
          </a:p>
        </p:txBody>
      </p:sp>
      <p:sp>
        <p:nvSpPr>
          <p:cNvPr id="8" name="TextBox 7">
            <a:extLst>
              <a:ext uri="{FF2B5EF4-FFF2-40B4-BE49-F238E27FC236}">
                <a16:creationId xmlns:a16="http://schemas.microsoft.com/office/drawing/2014/main" id="{B83B7A2B-CCCE-A5C1-CC09-C81AF095918E}"/>
              </a:ext>
            </a:extLst>
          </p:cNvPr>
          <p:cNvSpPr txBox="1"/>
          <p:nvPr/>
        </p:nvSpPr>
        <p:spPr>
          <a:xfrm>
            <a:off x="44196" y="2834574"/>
            <a:ext cx="3473704" cy="1546577"/>
          </a:xfrm>
          <a:prstGeom prst="rect">
            <a:avLst/>
          </a:prstGeom>
          <a:noFill/>
        </p:spPr>
        <p:txBody>
          <a:bodyPr wrap="square" rtlCol="0">
            <a:spAutoFit/>
          </a:bodyPr>
          <a:lstStyle/>
          <a:p>
            <a:r>
              <a:rPr lang="en-GB" sz="1050" dirty="0">
                <a:latin typeface="Arial" panose="020B0604020202020204" pitchFamily="34" charset="0"/>
                <a:cs typeface="Arial" panose="020B0604020202020204" pitchFamily="34" charset="0"/>
              </a:rPr>
              <a:t>In addition to the general legal requirements under the Health &amp; Safety at Work etc Act 1974, all Employers have a statutory duty  to assess and minimise the risks the exposure to workplace noise and vibration of their personnel, contractors and visitors.</a:t>
            </a:r>
          </a:p>
          <a:p>
            <a:endParaRPr lang="en-GB" sz="1050" dirty="0">
              <a:latin typeface="Arial" panose="020B0604020202020204" pitchFamily="34" charset="0"/>
              <a:cs typeface="Arial" panose="020B0604020202020204" pitchFamily="34" charset="0"/>
            </a:endParaRPr>
          </a:p>
          <a:p>
            <a:r>
              <a:rPr lang="en-GB" sz="1050" dirty="0">
                <a:latin typeface="Arial" panose="020B0604020202020204" pitchFamily="34" charset="0"/>
                <a:cs typeface="Arial" panose="020B0604020202020204" pitchFamily="34" charset="0"/>
              </a:rPr>
              <a:t>The Control of Noise and Work Regulation 2006 and the Control of Vibration of Work Regulations 2006 define clear duties for Employers to follow.</a:t>
            </a:r>
          </a:p>
        </p:txBody>
      </p:sp>
      <p:sp>
        <p:nvSpPr>
          <p:cNvPr id="10" name="TextBox 9">
            <a:extLst>
              <a:ext uri="{FF2B5EF4-FFF2-40B4-BE49-F238E27FC236}">
                <a16:creationId xmlns:a16="http://schemas.microsoft.com/office/drawing/2014/main" id="{1938B124-3D01-92B2-4E37-B55769999BF5}"/>
              </a:ext>
            </a:extLst>
          </p:cNvPr>
          <p:cNvSpPr txBox="1"/>
          <p:nvPr/>
        </p:nvSpPr>
        <p:spPr>
          <a:xfrm>
            <a:off x="2981632" y="5123847"/>
            <a:ext cx="2798064" cy="461665"/>
          </a:xfrm>
          <a:prstGeom prst="rect">
            <a:avLst/>
          </a:prstGeom>
          <a:noFill/>
          <a:ln>
            <a:noFill/>
          </a:ln>
        </p:spPr>
        <p:txBody>
          <a:bodyPr wrap="square" rtlCol="0">
            <a:spAutoFit/>
          </a:bodyPr>
          <a:lstStyle/>
          <a:p>
            <a:r>
              <a:rPr lang="en-GB" sz="2400" dirty="0">
                <a:ln w="0">
                  <a:solidFill>
                    <a:srgbClr val="B0002D"/>
                  </a:solidFill>
                </a:ln>
                <a:solidFill>
                  <a:srgbClr val="B0002D"/>
                </a:solidFill>
                <a:latin typeface="Arial" panose="020B0604020202020204" pitchFamily="34" charset="0"/>
                <a:cs typeface="Arial" panose="020B0604020202020204" pitchFamily="34" charset="0"/>
              </a:rPr>
              <a:t>SERVICES</a:t>
            </a:r>
            <a:endParaRPr lang="en-GB" dirty="0">
              <a:ln w="0">
                <a:solidFill>
                  <a:srgbClr val="B0002D"/>
                </a:solidFill>
              </a:ln>
              <a:solidFill>
                <a:srgbClr val="B0002D"/>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9B2B446F-25CD-5C5B-332F-03FA8900ECE5}"/>
              </a:ext>
            </a:extLst>
          </p:cNvPr>
          <p:cNvSpPr/>
          <p:nvPr/>
        </p:nvSpPr>
        <p:spPr>
          <a:xfrm>
            <a:off x="7702677" y="1345128"/>
            <a:ext cx="4605528" cy="4581037"/>
          </a:xfrm>
          <a:prstGeom prst="ellipse">
            <a:avLst/>
          </a:prstGeom>
          <a:blipFill>
            <a:blip r:embed="rId3"/>
            <a:stretch>
              <a:fillRect/>
            </a:stretch>
          </a:blipFill>
          <a:ln w="34925">
            <a:solidFill>
              <a:srgbClr val="B000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a:extLst>
              <a:ext uri="{FF2B5EF4-FFF2-40B4-BE49-F238E27FC236}">
                <a16:creationId xmlns:a16="http://schemas.microsoft.com/office/drawing/2014/main" id="{8309C634-4645-2372-4BC7-A45545CE12CC}"/>
              </a:ext>
            </a:extLst>
          </p:cNvPr>
          <p:cNvPicPr>
            <a:picLocks noChangeAspect="1"/>
          </p:cNvPicPr>
          <p:nvPr/>
        </p:nvPicPr>
        <p:blipFill>
          <a:blip r:embed="rId4"/>
          <a:stretch>
            <a:fillRect/>
          </a:stretch>
        </p:blipFill>
        <p:spPr>
          <a:xfrm>
            <a:off x="-199708" y="5775108"/>
            <a:ext cx="3094091" cy="3795787"/>
          </a:xfrm>
          <a:prstGeom prst="rect">
            <a:avLst/>
          </a:prstGeom>
          <a:ln w="50800">
            <a:solidFill>
              <a:srgbClr val="B0002D"/>
            </a:solidFill>
          </a:ln>
        </p:spPr>
      </p:pic>
      <p:pic>
        <p:nvPicPr>
          <p:cNvPr id="11" name="Picture 10">
            <a:extLst>
              <a:ext uri="{FF2B5EF4-FFF2-40B4-BE49-F238E27FC236}">
                <a16:creationId xmlns:a16="http://schemas.microsoft.com/office/drawing/2014/main" id="{57D68BFB-8184-5B68-752C-FA2BE2477B7E}"/>
              </a:ext>
            </a:extLst>
          </p:cNvPr>
          <p:cNvPicPr>
            <a:picLocks noChangeAspect="1"/>
          </p:cNvPicPr>
          <p:nvPr/>
        </p:nvPicPr>
        <p:blipFill>
          <a:blip r:embed="rId5"/>
          <a:stretch>
            <a:fillRect/>
          </a:stretch>
        </p:blipFill>
        <p:spPr>
          <a:xfrm>
            <a:off x="3686937" y="1487949"/>
            <a:ext cx="3686483" cy="2497802"/>
          </a:xfrm>
          <a:prstGeom prst="rect">
            <a:avLst/>
          </a:prstGeom>
          <a:noFill/>
          <a:ln w="50800">
            <a:solidFill>
              <a:srgbClr val="B0002D"/>
            </a:solidFill>
          </a:ln>
        </p:spPr>
      </p:pic>
      <p:sp>
        <p:nvSpPr>
          <p:cNvPr id="13" name="TextBox 12">
            <a:extLst>
              <a:ext uri="{FF2B5EF4-FFF2-40B4-BE49-F238E27FC236}">
                <a16:creationId xmlns:a16="http://schemas.microsoft.com/office/drawing/2014/main" id="{30A4ADAC-F98A-1F67-33F8-2C4BD33A76E6}"/>
              </a:ext>
            </a:extLst>
          </p:cNvPr>
          <p:cNvSpPr txBox="1"/>
          <p:nvPr/>
        </p:nvSpPr>
        <p:spPr>
          <a:xfrm>
            <a:off x="44196" y="4292851"/>
            <a:ext cx="6521704" cy="1061829"/>
          </a:xfrm>
          <a:prstGeom prst="rect">
            <a:avLst/>
          </a:prstGeom>
          <a:noFill/>
        </p:spPr>
        <p:txBody>
          <a:bodyPr wrap="square" rtlCol="0">
            <a:spAutoFit/>
          </a:bodyPr>
          <a:lstStyle/>
          <a:p>
            <a:endParaRPr lang="en-GB" sz="1050" dirty="0">
              <a:latin typeface="Arial" panose="020B0604020202020204" pitchFamily="34" charset="0"/>
              <a:cs typeface="Arial" panose="020B0604020202020204" pitchFamily="34" charset="0"/>
            </a:endParaRPr>
          </a:p>
          <a:p>
            <a:r>
              <a:rPr lang="en-GB" sz="1050" dirty="0">
                <a:latin typeface="Arial" panose="020B0604020202020204" pitchFamily="34" charset="0"/>
                <a:cs typeface="Arial" panose="020B0604020202020204" pitchFamily="34" charset="0"/>
              </a:rPr>
              <a:t>Failure to adequately assess the risks, or to act upon recommended improvement measures where significant risks are identified can lead to prosecution by the Health and Safety Executive. Fines for failing to prevent the permanent debilitating effects of exposure commonly exceed £100,000 under the latest guidance from the Sentencing Council.</a:t>
            </a:r>
          </a:p>
          <a:p>
            <a:endParaRPr lang="en-GB" sz="10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32413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68A10707719184CA70592C5C3EE5E50" ma:contentTypeVersion="17" ma:contentTypeDescription="Create a new document." ma:contentTypeScope="" ma:versionID="82d99da4b5fbdf04e5001ae14b907fc6">
  <xsd:schema xmlns:xsd="http://www.w3.org/2001/XMLSchema" xmlns:xs="http://www.w3.org/2001/XMLSchema" xmlns:p="http://schemas.microsoft.com/office/2006/metadata/properties" xmlns:ns2="7f642e86-49a7-4ccd-b241-49835c7e5cf8" xmlns:ns3="2873077b-37d9-4525-b680-39007a5cf49d" targetNamespace="http://schemas.microsoft.com/office/2006/metadata/properties" ma:root="true" ma:fieldsID="a363ac5fe4e0ba5aee382d01e4f8fe55" ns2:_="" ns3:_="">
    <xsd:import namespace="7f642e86-49a7-4ccd-b241-49835c7e5cf8"/>
    <xsd:import namespace="2873077b-37d9-4525-b680-39007a5cf49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642e86-49a7-4ccd-b241-49835c7e5c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c58c574-80af-415f-8f56-7478d336fa44"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873077b-37d9-4525-b680-39007a5cf49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b9ffc6e7-f808-4f69-a20b-efcf7750dd37}" ma:internalName="TaxCatchAll" ma:showField="CatchAllData" ma:web="2873077b-37d9-4525-b680-39007a5cf49d">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f642e86-49a7-4ccd-b241-49835c7e5cf8">
      <Terms xmlns="http://schemas.microsoft.com/office/infopath/2007/PartnerControls"/>
    </lcf76f155ced4ddcb4097134ff3c332f>
    <TaxCatchAll xmlns="2873077b-37d9-4525-b680-39007a5cf49d" xsi:nil="true"/>
  </documentManagement>
</p:properties>
</file>

<file path=customXml/itemProps1.xml><?xml version="1.0" encoding="utf-8"?>
<ds:datastoreItem xmlns:ds="http://schemas.openxmlformats.org/officeDocument/2006/customXml" ds:itemID="{618A601C-6443-4E14-8250-2BA6572DF590}">
  <ds:schemaRefs>
    <ds:schemaRef ds:uri="http://schemas.microsoft.com/sharepoint/v3/contenttype/forms"/>
  </ds:schemaRefs>
</ds:datastoreItem>
</file>

<file path=customXml/itemProps2.xml><?xml version="1.0" encoding="utf-8"?>
<ds:datastoreItem xmlns:ds="http://schemas.openxmlformats.org/officeDocument/2006/customXml" ds:itemID="{51E8CF4F-3DC4-4E58-8111-F849DA40FCB7}"/>
</file>

<file path=customXml/itemProps3.xml><?xml version="1.0" encoding="utf-8"?>
<ds:datastoreItem xmlns:ds="http://schemas.openxmlformats.org/officeDocument/2006/customXml" ds:itemID="{04A779FE-9477-4CE1-BBB4-EE85139A377D}">
  <ds:schemaRefs>
    <ds:schemaRef ds:uri="2873077b-37d9-4525-b680-39007a5cf49d"/>
    <ds:schemaRef ds:uri="7f642e86-49a7-4ccd-b241-49835c7e5cf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459</TotalTime>
  <Words>324</Words>
  <Application>Microsoft Office PowerPoint</Application>
  <PresentationFormat>A4 Paper (210x297 mm)</PresentationFormat>
  <Paragraphs>20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Bureau Veritas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 Cope</dc:creator>
  <cp:lastModifiedBy>Richard COPE</cp:lastModifiedBy>
  <cp:revision>4</cp:revision>
  <dcterms:created xsi:type="dcterms:W3CDTF">2023-10-04T06:50:05Z</dcterms:created>
  <dcterms:modified xsi:type="dcterms:W3CDTF">2023-10-13T12:22:37Z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9903d81-26ea-446d-9b9f-b42e2424be19_Enabled">
    <vt:lpwstr>true</vt:lpwstr>
  </property>
  <property fmtid="{D5CDD505-2E9C-101B-9397-08002B2CF9AE}" pid="3" name="MSIP_Label_39903d81-26ea-446d-9b9f-b42e2424be19_SetDate">
    <vt:lpwstr>2023-10-04T06:59:06Z</vt:lpwstr>
  </property>
  <property fmtid="{D5CDD505-2E9C-101B-9397-08002B2CF9AE}" pid="4" name="MSIP_Label_39903d81-26ea-446d-9b9f-b42e2424be19_Method">
    <vt:lpwstr>Standard</vt:lpwstr>
  </property>
  <property fmtid="{D5CDD505-2E9C-101B-9397-08002B2CF9AE}" pid="5" name="MSIP_Label_39903d81-26ea-446d-9b9f-b42e2424be19_Name">
    <vt:lpwstr>C2 Internal SWE</vt:lpwstr>
  </property>
  <property fmtid="{D5CDD505-2E9C-101B-9397-08002B2CF9AE}" pid="6" name="MSIP_Label_39903d81-26ea-446d-9b9f-b42e2424be19_SiteId">
    <vt:lpwstr>fffad414-b6a3-4f32-a9bd-42d28fc811f1</vt:lpwstr>
  </property>
  <property fmtid="{D5CDD505-2E9C-101B-9397-08002B2CF9AE}" pid="7" name="MSIP_Label_39903d81-26ea-446d-9b9f-b42e2424be19_ActionId">
    <vt:lpwstr>37c64753-6ffe-4fa3-9a14-04c1a0e9f091</vt:lpwstr>
  </property>
  <property fmtid="{D5CDD505-2E9C-101B-9397-08002B2CF9AE}" pid="8" name="MSIP_Label_39903d81-26ea-446d-9b9f-b42e2424be19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Bureau Veritas Group | C2 - Internal</vt:lpwstr>
  </property>
  <property fmtid="{D5CDD505-2E9C-101B-9397-08002B2CF9AE}" pid="11" name="ContentTypeId">
    <vt:lpwstr>0x010100D68A10707719184CA70592C5C3EE5E50</vt:lpwstr>
  </property>
  <property fmtid="{D5CDD505-2E9C-101B-9397-08002B2CF9AE}" pid="12" name="MediaServiceImageTags">
    <vt:lpwstr/>
  </property>
</Properties>
</file>